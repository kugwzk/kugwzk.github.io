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AE48"/>
    <a:srgbClr val="457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5" autoAdjust="0"/>
    <p:restoredTop sz="94640"/>
  </p:normalViewPr>
  <p:slideViewPr>
    <p:cSldViewPr snapToGrid="0">
      <p:cViewPr varScale="1">
        <p:scale>
          <a:sx n="116" d="100"/>
          <a:sy n="116" d="100"/>
        </p:scale>
        <p:origin x="10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E9F98-A105-43DE-A24C-1AE4B30FB2BB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F4D0E-28BC-4924-ACA4-6364796A30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430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CF7706-2EA7-41A7-98B6-A30151135166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08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C02BC-E0DB-D814-7C48-04292DE82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E29123-6834-97BC-A49A-025CD775F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A6600-6B7E-7417-B5B7-7190311D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13438-13D6-C7D8-A9AF-490E1FD7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5B1B54-59A8-670E-7814-514A7288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19901-D3F6-7C8E-599C-A2AF82AF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8B128-837A-F0EA-FBE3-D0C5A935D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DBFC7F-ECF5-10A4-CA41-1D21998F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D0DD04-CB15-5A5B-6320-87652E92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D731B-A91A-7176-55A5-85587106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69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E0BDE-B4DD-4BE8-2120-9D326D18A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3C5E56-551F-625C-4D24-6F6C15C86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F18FE3-971C-14B7-2C09-26320887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42032-14BD-DDD7-2A15-27031D11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C51BC-2710-9157-13E7-A1FE3FF5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15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CD1F3-36D7-077B-921A-116DDBBE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739D0-A2A5-4864-01A8-26C61C6C2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0023D-A58A-D0A3-35B2-157542418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CE5B41-B015-F779-99EB-C6D89A8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DE855D-8A86-DF26-82D8-FF9FEB92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775ED-E4AE-29B5-E43A-7440A46F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8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65599-7AF9-C4C2-A299-55AACEA4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3DEB0-3452-D73D-8D70-4AA387D73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8A563-1005-1B36-A78D-D1A963860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FF512E-BE95-95B0-2BEB-253B3C182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FF844B-77B5-6BD5-74FA-E5F1AD3A8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F5C3FA-4643-9393-E807-2D5C4D4A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F7B498-A857-9E98-14B4-A4898EAA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81E0B2-63CC-BAC9-B792-0733ABB2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86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BD01B-27F6-1547-A650-F831002B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3874BD-FEF7-DD4C-0239-C6E4CA15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D29441-96F3-95CE-C61D-B7C312EC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372B81-F68F-4436-4D7F-D5D0964B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63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C4D51B-90BD-2FA0-3EA0-1ACE31A7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E03416-8D9F-FF07-F97D-C06FD524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A0B37-1E53-682C-9B93-CB7666D9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76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F8DC8-C78D-DED6-427E-5C50F266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FECBB-BD01-F11B-F98D-5FCE646FB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D48EA-28C8-5EB9-0B6A-A7C137FFA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0A8122-613D-497D-5B13-745E345A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2223E6-3653-4E9D-8597-38118E65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CCB7B-335D-2891-B5EE-3D59D62B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0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A0E23-D545-108D-1732-7905ECE1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EF3070-F940-85BE-9F33-650F8C9E3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4D9DA9-45C5-F1A8-C861-BDBC67483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C96955-6635-EA64-BC5B-1157BADE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C0E944-5DD3-8A9A-5DBF-A38294EE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9EAC8F-0682-BA7E-415C-09EE80EB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79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29257-CA0B-7DFB-F8CF-94822546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459C78-3010-9A2E-6E27-1ACE7D2D2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481F3-711A-58E8-4A8F-0488DAE9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E7C00-74BE-5493-5265-93D71EFB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B287D-D8E4-C4FA-083C-1CE126CF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89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01DFBD-4FF8-2F39-2B64-5E3711E35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EA3F5B-00C0-44FD-6E86-3220B1FA4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A3129D-1F7D-C13F-D21B-B1466691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39811-3F8E-1EAF-27A6-72BEF363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5D395-5C18-B7DF-655E-61440023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0F81A1-11CE-2C96-7BAC-1B4E4250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4CC6D7-2472-07B8-C35D-2889EA6FD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EB8CF-57BC-FF58-6844-7CFA164AE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D72D-9C83-419D-8FC1-821A7874CFE8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65045C-87E0-A74B-2E1D-9F47AA5DC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19A80-EDA9-92F0-8A12-892163DBD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BD70A-90FD-49DE-AC04-E0EAA6A37F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7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emf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400E76-128F-DF2C-FD8B-565C17ED0DB6}"/>
              </a:ext>
            </a:extLst>
          </p:cNvPr>
          <p:cNvSpPr txBox="1"/>
          <p:nvPr/>
        </p:nvSpPr>
        <p:spPr>
          <a:xfrm>
            <a:off x="-4702" y="-31489"/>
            <a:ext cx="901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Improved Diffusion-based Generative Model with Better Adversarial Robustness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AF935-B485-9A10-5E55-413BCDCFF2FB}"/>
              </a:ext>
            </a:extLst>
          </p:cNvPr>
          <p:cNvSpPr txBox="1"/>
          <p:nvPr/>
        </p:nvSpPr>
        <p:spPr>
          <a:xfrm>
            <a:off x="7430" y="251011"/>
            <a:ext cx="8327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303030"/>
                </a:solidFill>
                <a:highlight>
                  <a:srgbClr val="FFFFFF"/>
                </a:highlight>
                <a:latin typeface="-apple-system"/>
              </a:rPr>
              <a:t>Zekun Wang</a:t>
            </a:r>
            <a:r>
              <a:rPr lang="en-US" altLang="zh-CN" sz="1200" b="1" i="1" dirty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-apple-system"/>
              </a:rPr>
              <a:t>, </a:t>
            </a:r>
            <a:r>
              <a:rPr lang="en-US" altLang="zh-CN" sz="1200" b="1" i="1" dirty="0" err="1">
                <a:solidFill>
                  <a:srgbClr val="303030"/>
                </a:solidFill>
                <a:effectLst/>
                <a:highlight>
                  <a:srgbClr val="FFFFFF"/>
                </a:highlight>
                <a:latin typeface="-apple-system"/>
              </a:rPr>
              <a:t>Mingyang</a:t>
            </a:r>
            <a:r>
              <a:rPr lang="en-US" altLang="zh-CN" sz="1200" b="1" i="1" dirty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-apple-system"/>
              </a:rPr>
              <a:t> Yi, Shuchen Xue, </a:t>
            </a:r>
            <a:r>
              <a:rPr lang="en-US" altLang="zh-CN" sz="1200" b="1" i="1" dirty="0" err="1">
                <a:solidFill>
                  <a:srgbClr val="303030"/>
                </a:solidFill>
                <a:effectLst/>
                <a:highlight>
                  <a:srgbClr val="FFFFFF"/>
                </a:highlight>
                <a:latin typeface="-apple-system"/>
              </a:rPr>
              <a:t>Zhenguo</a:t>
            </a:r>
            <a:r>
              <a:rPr lang="en-US" altLang="zh-CN" sz="1200" b="1" i="1" dirty="0">
                <a:solidFill>
                  <a:srgbClr val="303030"/>
                </a:solidFill>
                <a:effectLst/>
                <a:highlight>
                  <a:srgbClr val="FFFFFF"/>
                </a:highlight>
                <a:latin typeface="-apple-system"/>
              </a:rPr>
              <a:t> Li, Ming Liu, Bing Qin, Zhi-Ming Ma </a:t>
            </a:r>
            <a:endParaRPr lang="en-SG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5238E5-108A-82DC-440A-D1793100291A}"/>
              </a:ext>
            </a:extLst>
          </p:cNvPr>
          <p:cNvCxnSpPr>
            <a:cxnSpLocks/>
          </p:cNvCxnSpPr>
          <p:nvPr/>
        </p:nvCxnSpPr>
        <p:spPr>
          <a:xfrm>
            <a:off x="-1169" y="528103"/>
            <a:ext cx="1219200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AB7BBA-BE96-86BC-0854-C4D84152B357}"/>
              </a:ext>
            </a:extLst>
          </p:cNvPr>
          <p:cNvCxnSpPr>
            <a:cxnSpLocks/>
          </p:cNvCxnSpPr>
          <p:nvPr/>
        </p:nvCxnSpPr>
        <p:spPr>
          <a:xfrm flipH="1">
            <a:off x="4740854" y="884526"/>
            <a:ext cx="6738" cy="585556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468B5F-6156-5B15-FEA7-A2135EC65996}"/>
              </a:ext>
            </a:extLst>
          </p:cNvPr>
          <p:cNvSpPr txBox="1"/>
          <p:nvPr/>
        </p:nvSpPr>
        <p:spPr>
          <a:xfrm>
            <a:off x="-4704" y="545419"/>
            <a:ext cx="4761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Motivation: </a:t>
            </a:r>
            <a:r>
              <a:rPr lang="en" altLang="zh-CN" sz="1600" b="1" i="1" dirty="0"/>
              <a:t>Distribution Mismatch in Diffusion-based Models</a:t>
            </a:r>
            <a:endParaRPr lang="en-SG" sz="1600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2CFD7-ED44-1D7A-945A-E00370BF4FE1}"/>
              </a:ext>
            </a:extLst>
          </p:cNvPr>
          <p:cNvSpPr txBox="1"/>
          <p:nvPr/>
        </p:nvSpPr>
        <p:spPr>
          <a:xfrm>
            <a:off x="105148" y="1089959"/>
            <a:ext cx="4246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</a:rPr>
              <a:t>Exposure</a:t>
            </a:r>
            <a:r>
              <a:rPr lang="zh-CN" altLang="en-US" sz="1200" b="1" dirty="0">
                <a:solidFill>
                  <a:srgbClr val="C00000"/>
                </a:solidFill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</a:rPr>
              <a:t>Bias:</a:t>
            </a:r>
            <a:r>
              <a:rPr lang="zh-CN" altLang="en-US" sz="1200" dirty="0"/>
              <a:t> </a:t>
            </a:r>
            <a:r>
              <a:rPr lang="en-SG" sz="1200" dirty="0"/>
              <a:t>Mismatch in training and inference: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6A244-AC18-D961-B2A4-411BBF955E93}"/>
              </a:ext>
            </a:extLst>
          </p:cNvPr>
          <p:cNvSpPr txBox="1"/>
          <p:nvPr/>
        </p:nvSpPr>
        <p:spPr>
          <a:xfrm>
            <a:off x="4806240" y="522562"/>
            <a:ext cx="3334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Method</a:t>
            </a:r>
            <a:endParaRPr lang="en-SG" sz="1600" b="1" i="1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4246D3-4698-73CE-D98E-72F3AEABEE80}"/>
              </a:ext>
            </a:extLst>
          </p:cNvPr>
          <p:cNvCxnSpPr>
            <a:cxnSpLocks/>
          </p:cNvCxnSpPr>
          <p:nvPr/>
        </p:nvCxnSpPr>
        <p:spPr>
          <a:xfrm flipH="1">
            <a:off x="8344790" y="915011"/>
            <a:ext cx="10067" cy="4133619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6F1EBC-E025-4D2C-651E-ADB7D07ED12B}"/>
              </a:ext>
            </a:extLst>
          </p:cNvPr>
          <p:cNvCxnSpPr>
            <a:cxnSpLocks/>
          </p:cNvCxnSpPr>
          <p:nvPr/>
        </p:nvCxnSpPr>
        <p:spPr>
          <a:xfrm>
            <a:off x="8415954" y="4287359"/>
            <a:ext cx="3647237" cy="4942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8" descr="中国科学院院徽">
            <a:extLst>
              <a:ext uri="{FF2B5EF4-FFF2-40B4-BE49-F238E27FC236}">
                <a16:creationId xmlns:a16="http://schemas.microsoft.com/office/drawing/2014/main" id="{A035CF25-11DC-37E9-5021-5C3F55B75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887" y="51867"/>
            <a:ext cx="346442" cy="34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Connector 53">
            <a:extLst>
              <a:ext uri="{FF2B5EF4-FFF2-40B4-BE49-F238E27FC236}">
                <a16:creationId xmlns:a16="http://schemas.microsoft.com/office/drawing/2014/main" id="{30F81095-6389-E61B-BBD7-1F2F29081230}"/>
              </a:ext>
            </a:extLst>
          </p:cNvPr>
          <p:cNvCxnSpPr>
            <a:cxnSpLocks/>
          </p:cNvCxnSpPr>
          <p:nvPr/>
        </p:nvCxnSpPr>
        <p:spPr>
          <a:xfrm>
            <a:off x="4820558" y="4930935"/>
            <a:ext cx="3413593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7ADB3BC6-EC5C-9202-4842-CFAE7F517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125" y="53168"/>
            <a:ext cx="328789" cy="32878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BB3ACF2-5A80-0D61-83AC-F6562A0DD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976" y="97602"/>
            <a:ext cx="413465" cy="279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BD69AEEA-5E8D-AEB7-B873-58057A9DD7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37359" y="51494"/>
            <a:ext cx="1459341" cy="435727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24E4CA1-F5F0-502E-1224-9C9D0B535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6700" y="-19348"/>
            <a:ext cx="499203" cy="499203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02C5C2E-1698-9ABA-22F7-1CCE007754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6" y="1283924"/>
            <a:ext cx="2088501" cy="459385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6CCD362-F612-DB94-71A1-915F3E99147C}"/>
              </a:ext>
            </a:extLst>
          </p:cNvPr>
          <p:cNvSpPr txBox="1"/>
          <p:nvPr/>
        </p:nvSpPr>
        <p:spPr>
          <a:xfrm>
            <a:off x="2003358" y="1371089"/>
            <a:ext cx="389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vs</a:t>
            </a:r>
            <a:endParaRPr kumimoji="1" lang="zh-CN" altLang="en-US" sz="1200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5B03CD47-5DA9-A4DC-9A97-032A09EBF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355" y="1391956"/>
            <a:ext cx="2365945" cy="268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A51B08EB-367E-2E06-68A7-EE96FEF4C5AD}"/>
                  </a:ext>
                </a:extLst>
              </p:cNvPr>
              <p:cNvSpPr txBox="1"/>
              <p:nvPr/>
            </p:nvSpPr>
            <p:spPr>
              <a:xfrm>
                <a:off x="-337583" y="1698733"/>
                <a:ext cx="56637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Training: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4573C4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1100" b="1" i="1" smtClean="0">
                        <a:solidFill>
                          <a:srgbClr val="4573C4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zh-CN" sz="1100" b="1" i="1" smtClean="0">
                            <a:solidFill>
                              <a:srgbClr val="4573C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00" b="1" i="1" smtClean="0">
                                <a:solidFill>
                                  <a:srgbClr val="4573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1" i="1" smtClean="0">
                                <a:solidFill>
                                  <a:srgbClr val="4573C4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100" b="1" i="1" smtClean="0">
                                <a:solidFill>
                                  <a:srgbClr val="4573C4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1100" b="1" i="1" smtClean="0">
                                <a:solidFill>
                                  <a:srgbClr val="4573C4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100" b="1" i="1" smtClean="0">
                                <a:solidFill>
                                  <a:srgbClr val="4573C4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100" b="1" i="1" smtClean="0">
                        <a:solidFill>
                          <a:srgbClr val="4573C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100" dirty="0"/>
                  <a:t>  Inference: condition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>
                        <a:solidFill>
                          <a:srgbClr val="72AE48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100" b="1" i="1">
                        <a:solidFill>
                          <a:srgbClr val="72AE48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>
                            <a:solidFill>
                              <a:srgbClr val="72AE4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>
                        <a:solidFill>
                          <a:srgbClr val="72AE4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A51B08EB-367E-2E06-68A7-EE96FEF4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7583" y="1698733"/>
                <a:ext cx="5663733" cy="261610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0" name="图形 139">
            <a:extLst>
              <a:ext uri="{FF2B5EF4-FFF2-40B4-BE49-F238E27FC236}">
                <a16:creationId xmlns:a16="http://schemas.microsoft.com/office/drawing/2014/main" id="{4F587DA5-46A4-8F18-2701-3A2756B28E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4340" y="1917978"/>
            <a:ext cx="4390400" cy="9374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0C19F16-3D29-DE5E-8FDE-CB6C3A600334}"/>
                  </a:ext>
                </a:extLst>
              </p:cNvPr>
              <p:cNvSpPr txBox="1"/>
              <p:nvPr/>
            </p:nvSpPr>
            <p:spPr>
              <a:xfrm>
                <a:off x="128809" y="2837617"/>
                <a:ext cx="4660486" cy="2732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The mismatch error is severe with </a:t>
                </a:r>
                <a:r>
                  <a:rPr lang="en-US" altLang="zh-CN" sz="1100" b="1" dirty="0"/>
                  <a:t>fewer sampling steps </a:t>
                </a:r>
                <a:r>
                  <a:rPr lang="en-US" altLang="zh-CN" sz="1100" dirty="0"/>
                  <a:t>and </a:t>
                </a:r>
                <a:r>
                  <a:rPr lang="en-US" altLang="zh-CN" sz="1100" b="1" dirty="0"/>
                  <a:t>is accumulated during inference process!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US" altLang="zh-CN" sz="1100" b="1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rgbClr val="C00000"/>
                    </a:solidFill>
                  </a:rPr>
                  <a:t>Exposure</a:t>
                </a:r>
                <a:r>
                  <a:rPr lang="zh-CN" altLang="en-US" sz="12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200" dirty="0">
                    <a:solidFill>
                      <a:srgbClr val="C00000"/>
                    </a:solidFill>
                  </a:rPr>
                  <a:t>Bias</a:t>
                </a:r>
                <a:r>
                  <a:rPr lang="zh-CN" altLang="en-US" sz="12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1200" dirty="0"/>
                  <a:t>also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in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Consistency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Distillation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Models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rgbClr val="C00000"/>
                  </a:solidFill>
                </a:endParaRP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US" altLang="zh-CN" sz="1200" dirty="0">
                  <a:solidFill>
                    <a:srgbClr val="C00000"/>
                  </a:solidFill>
                </a:endParaRP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1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</m:acc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100" dirty="0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US" altLang="zh-CN" sz="11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Intuition: Improving </a:t>
                </a:r>
                <a:r>
                  <a:rPr lang="en-US" altLang="zh-CN" sz="1200" b="1" dirty="0"/>
                  <a:t>Distributional Robustness </a:t>
                </a:r>
                <a:r>
                  <a:rPr lang="en-US" altLang="zh-CN" sz="1200" dirty="0"/>
                  <a:t>can alleviate mismatch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altLang="zh-CN" sz="1100" b="1" dirty="0">
                    <a:solidFill>
                      <a:schemeClr val="tx1"/>
                    </a:solidFill>
                  </a:rPr>
                  <a:t>Distributional Robustness (DRO)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: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acc>
                      <m:accPr>
                        <m:chr m:val="̃"/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1100" dirty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100" dirty="0">
                    <a:solidFill>
                      <a:schemeClr val="tx1"/>
                    </a:solidFill>
                  </a:rPr>
                  <a:t> is in a ball over the ground truth </a:t>
                </a:r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100" dirty="0">
                    <a:solidFill>
                      <a:schemeClr val="tx1"/>
                    </a:solidFill>
                  </a:rPr>
                  <a:t>, which covers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100" b="0" dirty="0">
                  <a:solidFill>
                    <a:schemeClr val="tx1"/>
                  </a:solidFill>
                </a:endParaRP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Counting Biases in Training</a:t>
                </a:r>
                <a:r>
                  <a:rPr lang="en-US" altLang="zh-CN" sz="1100" dirty="0">
                    <a:solidFill>
                      <a:srgbClr val="C00000"/>
                    </a:solidFill>
                  </a:rPr>
                  <a:t>: </a:t>
                </a:r>
                <a:r>
                  <a:rPr lang="en-US" altLang="zh-CN" sz="1100" dirty="0"/>
                  <a:t>Minimization conducted on a ball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0C19F16-3D29-DE5E-8FDE-CB6C3A600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9" y="2837617"/>
                <a:ext cx="4660486" cy="2732030"/>
              </a:xfrm>
              <a:prstGeom prst="rect">
                <a:avLst/>
              </a:prstGeom>
              <a:blipFill>
                <a:blip r:embed="rId14"/>
                <a:stretch>
                  <a:fillRect b="-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图片 148">
            <a:extLst>
              <a:ext uri="{FF2B5EF4-FFF2-40B4-BE49-F238E27FC236}">
                <a16:creationId xmlns:a16="http://schemas.microsoft.com/office/drawing/2014/main" id="{DE23CE46-61D6-F1C6-CD63-6E4F6BB772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593" y="3574410"/>
            <a:ext cx="3677839" cy="356589"/>
          </a:xfrm>
          <a:prstGeom prst="rect">
            <a:avLst/>
          </a:prstGeom>
        </p:spPr>
      </p:pic>
      <p:pic>
        <p:nvPicPr>
          <p:cNvPr id="152" name="图形 151">
            <a:extLst>
              <a:ext uri="{FF2B5EF4-FFF2-40B4-BE49-F238E27FC236}">
                <a16:creationId xmlns:a16="http://schemas.microsoft.com/office/drawing/2014/main" id="{454D1CBD-389A-5F75-CE1B-1560C24B194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824" y="5460265"/>
            <a:ext cx="4683431" cy="1048064"/>
          </a:xfrm>
          <a:prstGeom prst="rect">
            <a:avLst/>
          </a:prstGeom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830EC181-02E1-00DD-AEA2-727D5BE6B584}"/>
              </a:ext>
            </a:extLst>
          </p:cNvPr>
          <p:cNvSpPr txBox="1"/>
          <p:nvPr/>
        </p:nvSpPr>
        <p:spPr>
          <a:xfrm>
            <a:off x="4709591" y="822661"/>
            <a:ext cx="41472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Objectives: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Diffusion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Consistency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Distillation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F6D5B8CF-4BA9-BD70-1A73-B8C0A5009B07}"/>
              </a:ext>
            </a:extLst>
          </p:cNvPr>
          <p:cNvSpPr txBox="1"/>
          <p:nvPr/>
        </p:nvSpPr>
        <p:spPr>
          <a:xfrm>
            <a:off x="4796897" y="2489578"/>
            <a:ext cx="37466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Efficient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200" b="1" dirty="0"/>
              <a:t>Fine-tuning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Models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with</a:t>
            </a:r>
            <a:r>
              <a:rPr kumimoji="1" lang="zh-CN" altLang="en-US" sz="1200" dirty="0"/>
              <a:t> </a:t>
            </a:r>
            <a:r>
              <a:rPr kumimoji="1" lang="en-US" altLang="zh-CN" sz="1200" b="1" dirty="0"/>
              <a:t>Free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AT</a:t>
            </a:r>
            <a:r>
              <a:rPr kumimoji="1" lang="en-US" altLang="zh-CN" sz="1200" dirty="0"/>
              <a:t>!</a:t>
            </a:r>
            <a:endParaRPr kumimoji="1" lang="zh-CN" altLang="en-US" sz="1200" dirty="0"/>
          </a:p>
        </p:txBody>
      </p:sp>
      <p:sp>
        <p:nvSpPr>
          <p:cNvPr id="164" name="TextBox 25">
            <a:extLst>
              <a:ext uri="{FF2B5EF4-FFF2-40B4-BE49-F238E27FC236}">
                <a16:creationId xmlns:a16="http://schemas.microsoft.com/office/drawing/2014/main" id="{669F99E0-4621-791A-0148-31B830CD4CA9}"/>
              </a:ext>
            </a:extLst>
          </p:cNvPr>
          <p:cNvSpPr txBox="1"/>
          <p:nvPr/>
        </p:nvSpPr>
        <p:spPr>
          <a:xfrm>
            <a:off x="8314158" y="554024"/>
            <a:ext cx="5322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Experiment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on Diffusion Models</a:t>
            </a:r>
            <a:endParaRPr lang="en-SG" sz="1600" b="1" i="1" dirty="0"/>
          </a:p>
        </p:txBody>
      </p:sp>
      <p:pic>
        <p:nvPicPr>
          <p:cNvPr id="167" name="图片 166">
            <a:extLst>
              <a:ext uri="{FF2B5EF4-FFF2-40B4-BE49-F238E27FC236}">
                <a16:creationId xmlns:a16="http://schemas.microsoft.com/office/drawing/2014/main" id="{0DDDA487-8F2D-4EBB-172D-4D4E0E32D70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06272" y="2732744"/>
            <a:ext cx="3695604" cy="1412811"/>
          </a:xfrm>
          <a:prstGeom prst="rect">
            <a:avLst/>
          </a:prstGeom>
        </p:spPr>
      </p:pic>
      <p:pic>
        <p:nvPicPr>
          <p:cNvPr id="168" name="图片 167">
            <a:extLst>
              <a:ext uri="{FF2B5EF4-FFF2-40B4-BE49-F238E27FC236}">
                <a16:creationId xmlns:a16="http://schemas.microsoft.com/office/drawing/2014/main" id="{DED0BEB1-17DB-4D0D-92DD-2D81D3F7784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851" y="1081393"/>
            <a:ext cx="3768270" cy="1440445"/>
          </a:xfrm>
          <a:prstGeom prst="rect">
            <a:avLst/>
          </a:prstGeom>
        </p:spPr>
      </p:pic>
      <p:sp>
        <p:nvSpPr>
          <p:cNvPr id="169" name="文本框 168">
            <a:extLst>
              <a:ext uri="{FF2B5EF4-FFF2-40B4-BE49-F238E27FC236}">
                <a16:creationId xmlns:a16="http://schemas.microsoft.com/office/drawing/2014/main" id="{00A48023-D796-E04F-B6F0-FECF722FA2E2}"/>
              </a:ext>
            </a:extLst>
          </p:cNvPr>
          <p:cNvSpPr txBox="1"/>
          <p:nvPr/>
        </p:nvSpPr>
        <p:spPr>
          <a:xfrm>
            <a:off x="8320573" y="837651"/>
            <a:ext cx="2260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200" dirty="0"/>
              <a:t>Results on CIFAR-10 32x32</a:t>
            </a:r>
            <a:endParaRPr kumimoji="1" lang="zh-CN" altLang="en-US" sz="1200" dirty="0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D001A390-D28D-1859-992F-BBFDDA3384B6}"/>
              </a:ext>
            </a:extLst>
          </p:cNvPr>
          <p:cNvSpPr txBox="1"/>
          <p:nvPr/>
        </p:nvSpPr>
        <p:spPr>
          <a:xfrm>
            <a:off x="8314158" y="2502242"/>
            <a:ext cx="2278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200" dirty="0"/>
              <a:t>Results on ImageNet 64x64</a:t>
            </a:r>
            <a:endParaRPr kumimoji="1" lang="zh-CN" altLang="en-US" sz="1200" dirty="0"/>
          </a:p>
        </p:txBody>
      </p:sp>
      <p:sp>
        <p:nvSpPr>
          <p:cNvPr id="177" name="TextBox 25">
            <a:extLst>
              <a:ext uri="{FF2B5EF4-FFF2-40B4-BE49-F238E27FC236}">
                <a16:creationId xmlns:a16="http://schemas.microsoft.com/office/drawing/2014/main" id="{6E5C780C-FAD4-3B14-2804-A0B32305B762}"/>
              </a:ext>
            </a:extLst>
          </p:cNvPr>
          <p:cNvSpPr txBox="1"/>
          <p:nvPr/>
        </p:nvSpPr>
        <p:spPr>
          <a:xfrm>
            <a:off x="4731241" y="5272066"/>
            <a:ext cx="5322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Experiment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on Consistency Models</a:t>
            </a:r>
            <a:endParaRPr lang="en-SG" sz="1600" b="1" i="1" dirty="0"/>
          </a:p>
        </p:txBody>
      </p:sp>
      <p:pic>
        <p:nvPicPr>
          <p:cNvPr id="180" name="图片 179">
            <a:extLst>
              <a:ext uri="{FF2B5EF4-FFF2-40B4-BE49-F238E27FC236}">
                <a16:creationId xmlns:a16="http://schemas.microsoft.com/office/drawing/2014/main" id="{A6B135E4-8087-7B00-2048-F36CF07CCE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73715" y="3357124"/>
            <a:ext cx="3509978" cy="1459248"/>
          </a:xfrm>
          <a:prstGeom prst="rect">
            <a:avLst/>
          </a:prstGeom>
        </p:spPr>
      </p:pic>
      <p:sp>
        <p:nvSpPr>
          <p:cNvPr id="184" name="文本框 183">
            <a:extLst>
              <a:ext uri="{FF2B5EF4-FFF2-40B4-BE49-F238E27FC236}">
                <a16:creationId xmlns:a16="http://schemas.microsoft.com/office/drawing/2014/main" id="{6F4B7A9C-FEB4-8140-E468-6ADFE3D84151}"/>
              </a:ext>
            </a:extLst>
          </p:cNvPr>
          <p:cNvSpPr txBox="1"/>
          <p:nvPr/>
        </p:nvSpPr>
        <p:spPr>
          <a:xfrm>
            <a:off x="4773715" y="5654086"/>
            <a:ext cx="3315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sz="1100" dirty="0"/>
              <a:t>Results of LCM on MS-COCO 2014 at 512x512</a:t>
            </a:r>
            <a:endParaRPr kumimoji="1" lang="zh-CN" altLang="en-US" sz="1100" dirty="0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6AE6035-FB18-BEFE-0900-9EE2F0E41977}"/>
              </a:ext>
            </a:extLst>
          </p:cNvPr>
          <p:cNvSpPr txBox="1"/>
          <p:nvPr/>
        </p:nvSpPr>
        <p:spPr>
          <a:xfrm>
            <a:off x="8350520" y="4266086"/>
            <a:ext cx="7196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Visualization</a:t>
            </a:r>
            <a:endParaRPr lang="zh-CN" altLang="en-US" sz="1200" dirty="0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5D1691B-9289-8452-430F-484DAA5472E0}"/>
              </a:ext>
            </a:extLst>
          </p:cNvPr>
          <p:cNvSpPr txBox="1"/>
          <p:nvPr/>
        </p:nvSpPr>
        <p:spPr>
          <a:xfrm>
            <a:off x="8629897" y="4424947"/>
            <a:ext cx="676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Baseline</a:t>
            </a:r>
            <a:endParaRPr kumimoji="1" lang="zh-CN" altLang="en-US" sz="1100" dirty="0"/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19D81356-B321-7FBF-CABC-E8C5E40C5B05}"/>
              </a:ext>
            </a:extLst>
          </p:cNvPr>
          <p:cNvSpPr txBox="1"/>
          <p:nvPr/>
        </p:nvSpPr>
        <p:spPr>
          <a:xfrm>
            <a:off x="9881972" y="4424947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Ours</a:t>
            </a:r>
            <a:endParaRPr kumimoji="1" lang="zh-CN" altLang="en-US" sz="1100" dirty="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F32B91E4-0D47-3912-3E45-A31771CCA43F}"/>
              </a:ext>
            </a:extLst>
          </p:cNvPr>
          <p:cNvSpPr txBox="1"/>
          <p:nvPr/>
        </p:nvSpPr>
        <p:spPr>
          <a:xfrm>
            <a:off x="10759583" y="4686557"/>
            <a:ext cx="12564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i="1" dirty="0"/>
              <a:t>A photo of beautiful mountain with realistic sunset and blue lake, highly detailed, masterpiece</a:t>
            </a:r>
            <a:endParaRPr kumimoji="1" lang="zh-CN" altLang="en-US" sz="1000" i="1" dirty="0"/>
          </a:p>
        </p:txBody>
      </p:sp>
      <p:pic>
        <p:nvPicPr>
          <p:cNvPr id="196" name="图片 195">
            <a:extLst>
              <a:ext uri="{FF2B5EF4-FFF2-40B4-BE49-F238E27FC236}">
                <a16:creationId xmlns:a16="http://schemas.microsoft.com/office/drawing/2014/main" id="{F83757F6-0DA2-7964-746E-D91D8727138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20558" y="6120609"/>
            <a:ext cx="3614467" cy="567747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1C5B66A3-65A7-00D3-38BD-56269809680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1866" y="2066053"/>
            <a:ext cx="3323619" cy="341014"/>
          </a:xfrm>
          <a:prstGeom prst="rect">
            <a:avLst/>
          </a:prstGeom>
        </p:spPr>
      </p:pic>
      <p:pic>
        <p:nvPicPr>
          <p:cNvPr id="198" name="图片 197">
            <a:extLst>
              <a:ext uri="{FF2B5EF4-FFF2-40B4-BE49-F238E27FC236}">
                <a16:creationId xmlns:a16="http://schemas.microsoft.com/office/drawing/2014/main" id="{8212B6A8-4A69-4D15-AEB3-F5011707FDD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26302" y="1284244"/>
            <a:ext cx="3509115" cy="360026"/>
          </a:xfrm>
          <a:prstGeom prst="rect">
            <a:avLst/>
          </a:prstGeom>
        </p:spPr>
      </p:pic>
      <p:pic>
        <p:nvPicPr>
          <p:cNvPr id="204" name="图片 203">
            <a:extLst>
              <a:ext uri="{FF2B5EF4-FFF2-40B4-BE49-F238E27FC236}">
                <a16:creationId xmlns:a16="http://schemas.microsoft.com/office/drawing/2014/main" id="{2A69FAB4-C712-629A-D7F4-5AE8BF7745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27770" y="4707891"/>
            <a:ext cx="2151220" cy="1012571"/>
          </a:xfrm>
          <a:prstGeom prst="rect">
            <a:avLst/>
          </a:prstGeom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F0AF85AA-B42D-B9BC-3405-EF54781FDC1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36745" y="5793144"/>
            <a:ext cx="2133270" cy="1004121"/>
          </a:xfrm>
          <a:prstGeom prst="rect">
            <a:avLst/>
          </a:prstGeom>
        </p:spPr>
      </p:pic>
      <p:sp>
        <p:nvSpPr>
          <p:cNvPr id="207" name="文本框 206">
            <a:extLst>
              <a:ext uri="{FF2B5EF4-FFF2-40B4-BE49-F238E27FC236}">
                <a16:creationId xmlns:a16="http://schemas.microsoft.com/office/drawing/2014/main" id="{5A00F495-FE3F-4028-038D-FBA4A86E58FE}"/>
              </a:ext>
            </a:extLst>
          </p:cNvPr>
          <p:cNvSpPr txBox="1"/>
          <p:nvPr/>
        </p:nvSpPr>
        <p:spPr>
          <a:xfrm>
            <a:off x="10759583" y="5867833"/>
            <a:ext cx="1256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i="1" dirty="0"/>
              <a:t>Astronaut in a jungle, cold color palette, muted colors, detailed, 8k.</a:t>
            </a:r>
            <a:endParaRPr kumimoji="1" lang="zh-CN" alt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326365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224</Words>
  <Application>Microsoft Macintosh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-apple-system</vt:lpstr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Shuchen Xue</dc:creator>
  <cp:lastModifiedBy>wangzekun</cp:lastModifiedBy>
  <cp:revision>74</cp:revision>
  <cp:lastPrinted>2024-07-19T03:35:10Z</cp:lastPrinted>
  <dcterms:created xsi:type="dcterms:W3CDTF">2024-07-19T02:42:51Z</dcterms:created>
  <dcterms:modified xsi:type="dcterms:W3CDTF">2025-04-21T10:26:53Z</dcterms:modified>
</cp:coreProperties>
</file>